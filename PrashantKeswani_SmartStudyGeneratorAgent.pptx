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83" r:id="rId2"/>
    <p:sldId id="257" r:id="rId3"/>
    <p:sldId id="282" r:id="rId4"/>
    <p:sldId id="284" r:id="rId5"/>
    <p:sldId id="285" r:id="rId6"/>
    <p:sldId id="281" r:id="rId7"/>
    <p:sldId id="279" r:id="rId8"/>
    <p:sldId id="262" r:id="rId9"/>
    <p:sldId id="264" r:id="rId10"/>
    <p:sldId id="287" r:id="rId11"/>
    <p:sldId id="289" r:id="rId12"/>
    <p:sldId id="286" r:id="rId13"/>
    <p:sldId id="277" r:id="rId14"/>
    <p:sldId id="288" r:id="rId15"/>
    <p:sldId id="290" r:id="rId16"/>
    <p:sldId id="291" r:id="rId17"/>
    <p:sldId id="292" r:id="rId18"/>
    <p:sldId id="293" r:id="rId19"/>
    <p:sldId id="280" r:id="rId20"/>
    <p:sldId id="276"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86"/>
  </p:normalViewPr>
  <p:slideViewPr>
    <p:cSldViewPr snapToGrid="0">
      <p:cViewPr>
        <p:scale>
          <a:sx n="75" d="100"/>
          <a:sy n="75" d="100"/>
        </p:scale>
        <p:origin x="-432" y="13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customschemas.google.com/relationships/presentationmetadata" Target="metadata"/><Relationship Id="rId30"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95170450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xmlns=""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xmlns=""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xmlns=""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xmlns=""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xmlns=""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xmlns=""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xmlns=""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xmlns=""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xmlns=""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xmlns=""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xmlns=""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xmlns=""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xmlns=""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xmlns=""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xmlns=""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xmlns=""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xmlns=""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xmlns=""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mailto:prashantkeswani@gmail.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vmlDrawing" Target="../drawings/vmlDrawing1.vml"/><Relationship Id="rId5" Type="http://schemas.openxmlformats.org/officeDocument/2006/relationships/image" Target="../media/image7.emf"/><Relationship Id="rId4" Type="http://schemas.openxmlformats.org/officeDocument/2006/relationships/oleObject" Target="../embeddings/oleObject1.bin"/></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vmlDrawing" Target="../drawings/vmlDrawing2.vml"/><Relationship Id="rId5" Type="http://schemas.openxmlformats.org/officeDocument/2006/relationships/image" Target="../media/image8.emf"/><Relationship Id="rId4" Type="http://schemas.openxmlformats.org/officeDocument/2006/relationships/oleObject" Target="../embeddings/oleObject2.bin"/></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vmlDrawing" Target="../drawings/vmlDrawing3.vml"/><Relationship Id="rId5" Type="http://schemas.openxmlformats.org/officeDocument/2006/relationships/image" Target="../media/image9.emf"/><Relationship Id="rId4" Type="http://schemas.openxmlformats.org/officeDocument/2006/relationships/oleObject" Target="../embeddings/oleObject3.bin"/></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vmlDrawing" Target="../drawings/vmlDrawing4.vml"/><Relationship Id="rId5" Type="http://schemas.openxmlformats.org/officeDocument/2006/relationships/image" Target="../media/image10.emf"/><Relationship Id="rId4" Type="http://schemas.openxmlformats.org/officeDocument/2006/relationships/oleObject" Target="../embeddings/oleObject4.bin"/></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vmlDrawing" Target="../drawings/vmlDrawing5.vml"/><Relationship Id="rId5" Type="http://schemas.openxmlformats.org/officeDocument/2006/relationships/image" Target="../media/image11.emf"/><Relationship Id="rId4" Type="http://schemas.openxmlformats.org/officeDocument/2006/relationships/oleObject" Target="../embeddings/oleObject5.bin"/></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r>
              <a:rPr lang="en-US" b="1" dirty="0"/>
              <a:t/>
            </a:r>
            <a:br>
              <a:rPr lang="en-US" b="1" dirty="0"/>
            </a:br>
            <a:endParaRPr lang="en-IN" dirty="0"/>
          </a:p>
        </p:txBody>
      </p:sp>
      <p:sp>
        <p:nvSpPr>
          <p:cNvPr id="3" name="Text Placeholder 2">
            <a:extLst>
              <a:ext uri="{FF2B5EF4-FFF2-40B4-BE49-F238E27FC236}">
                <a16:creationId xmlns:a16="http://schemas.microsoft.com/office/drawing/2014/main" xmlns=""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718961589"/>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xmlns="" val="20000"/>
                    </a:ext>
                  </a:extLst>
                </a:gridCol>
                <a:gridCol w="2443374">
                  <a:extLst>
                    <a:ext uri="{9D8B030D-6E8A-4147-A177-3AD203B41FA5}">
                      <a16:colId xmlns:a16="http://schemas.microsoft.com/office/drawing/2014/main" xmlns="" val="20002"/>
                    </a:ext>
                  </a:extLst>
                </a:gridCol>
                <a:gridCol w="2443374">
                  <a:extLst>
                    <a:ext uri="{9D8B030D-6E8A-4147-A177-3AD203B41FA5}">
                      <a16:colId xmlns:a16="http://schemas.microsoft.com/office/drawing/2014/main" xmlns="" val="20003"/>
                    </a:ext>
                  </a:extLst>
                </a:gridCol>
                <a:gridCol w="2443374">
                  <a:extLst>
                    <a:ext uri="{9D8B030D-6E8A-4147-A177-3AD203B41FA5}">
                      <a16:colId xmlns:a16="http://schemas.microsoft.com/office/drawing/2014/main" xmlns=""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xmlns="" val="10000"/>
                  </a:ext>
                </a:extLst>
              </a:tr>
              <a:tr h="1193891">
                <a:tc>
                  <a:txBody>
                    <a:bodyPr/>
                    <a:lstStyle/>
                    <a:p>
                      <a:pPr marL="0" marR="0" lvl="0" indent="0" algn="l" rtl="0">
                        <a:spcBef>
                          <a:spcPts val="0"/>
                        </a:spcBef>
                        <a:spcAft>
                          <a:spcPts val="0"/>
                        </a:spcAft>
                        <a:buNone/>
                      </a:pPr>
                      <a:r>
                        <a:rPr lang="en-US" dirty="0" err="1" smtClean="0"/>
                        <a:t>Dr</a:t>
                      </a:r>
                      <a:r>
                        <a:rPr lang="en-US" dirty="0" smtClean="0"/>
                        <a:t> </a:t>
                      </a:r>
                      <a:r>
                        <a:rPr lang="en-US" dirty="0" err="1" smtClean="0"/>
                        <a:t>Prashant</a:t>
                      </a:r>
                      <a:r>
                        <a:rPr lang="en-US" dirty="0" smtClean="0"/>
                        <a:t> </a:t>
                      </a:r>
                      <a:r>
                        <a:rPr lang="en-US" dirty="0" err="1" smtClean="0"/>
                        <a:t>Keswani</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smtClean="0">
                          <a:hlinkClick r:id="rId3"/>
                        </a:rPr>
                        <a:t>prashantkeswani@gmail.com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smtClean="0"/>
                        <a:t>9909011169</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xmlns="" val="10001"/>
                  </a:ext>
                </a:extLst>
              </a:tr>
            </a:tbl>
          </a:graphicData>
        </a:graphic>
      </p:graphicFrame>
      <p:sp>
        <p:nvSpPr>
          <p:cNvPr id="4" name="TextBox 3">
            <a:extLst>
              <a:ext uri="{FF2B5EF4-FFF2-40B4-BE49-F238E27FC236}">
                <a16:creationId xmlns:a16="http://schemas.microsoft.com/office/drawing/2014/main" xmlns=""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a:t>
            </a:r>
            <a:r>
              <a:rPr lang="en-US" sz="2400" b="1" dirty="0" smtClean="0"/>
              <a:t>–Education</a:t>
            </a:r>
            <a:endParaRPr lang="en-IN" sz="2400" b="1" dirty="0">
              <a:highlight>
                <a:srgbClr val="FFFF00"/>
              </a:highlight>
            </a:endParaRPr>
          </a:p>
        </p:txBody>
      </p:sp>
      <p:sp>
        <p:nvSpPr>
          <p:cNvPr id="7" name="TextBox 6">
            <a:extLst>
              <a:ext uri="{FF2B5EF4-FFF2-40B4-BE49-F238E27FC236}">
                <a16:creationId xmlns:a16="http://schemas.microsoft.com/office/drawing/2014/main" xmlns=""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a:t>
            </a:r>
            <a:r>
              <a:rPr lang="en-US" sz="2400" b="1" dirty="0" smtClean="0"/>
              <a:t>– Smart Study Generator Agent</a:t>
            </a:r>
            <a:endParaRPr lang="en-IN" sz="2400" b="1" dirty="0">
              <a:highlight>
                <a:srgbClr val="FFFF00"/>
              </a:highlight>
            </a:endParaRPr>
          </a:p>
        </p:txBody>
      </p:sp>
      <p:pic>
        <p:nvPicPr>
          <p:cNvPr id="4098" name="Picture 2" descr="C:\Users\Dell\Desktop\MCA_PrashantKeswani.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95054" y="3657600"/>
            <a:ext cx="1009152" cy="100915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xmlns=""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C6F6745E-14BA-0766-CE1E-32E29663832D}"/>
              </a:ext>
            </a:extLst>
          </p:cNvPr>
          <p:cNvSpPr txBox="1"/>
          <p:nvPr/>
        </p:nvSpPr>
        <p:spPr>
          <a:xfrm>
            <a:off x="576072" y="1234440"/>
            <a:ext cx="10607040" cy="4401205"/>
          </a:xfrm>
          <a:prstGeom prst="rect">
            <a:avLst/>
          </a:prstGeom>
          <a:noFill/>
        </p:spPr>
        <p:txBody>
          <a:bodyPr wrap="square" rtlCol="0">
            <a:spAutoFit/>
          </a:bodyPr>
          <a:lstStyle/>
          <a:p>
            <a:pPr fontAlgn="base"/>
            <a:r>
              <a:rPr lang="en-US" b="1" dirty="0"/>
              <a:t>The Challenge </a:t>
            </a:r>
          </a:p>
          <a:p>
            <a:pPr fontAlgn="base"/>
            <a:endParaRPr lang="en-US" b="1" dirty="0"/>
          </a:p>
          <a:p>
            <a:pPr fontAlgn="base"/>
            <a:r>
              <a:rPr lang="en-US" b="1" dirty="0"/>
              <a:t>Students today face an overwhelming flood of information—lecture notes, textbooks, research papers, YouTube tutorials, and online resources. This content is scattered, unorganized, and often not personalized to their learning pace or style. As a result, students struggle with finding the right study material, summarizing key concepts, and staying exam-ready. Traditional study tools only provide static notes or flashcards, failing to adapt dynamically to student needs. The challenge is to move beyond static resources toward an intelligent, adaptive study companion.</a:t>
            </a:r>
          </a:p>
          <a:p>
            <a:pPr fontAlgn="base"/>
            <a:endParaRPr lang="en-US" b="1" dirty="0"/>
          </a:p>
          <a:p>
            <a:pPr fontAlgn="base"/>
            <a:r>
              <a:rPr lang="en-US" b="1" dirty="0"/>
              <a:t>The Objective </a:t>
            </a:r>
          </a:p>
          <a:p>
            <a:pPr fontAlgn="base"/>
            <a:endParaRPr lang="en-US" b="1" dirty="0"/>
          </a:p>
          <a:p>
            <a:pPr fontAlgn="base"/>
            <a:r>
              <a:rPr lang="en-US" b="1" dirty="0"/>
              <a:t>Build an agentic AI-powered Smart Study Generator that personalizes and streamlines learning for students. </a:t>
            </a:r>
          </a:p>
          <a:p>
            <a:pPr fontAlgn="base"/>
            <a:r>
              <a:rPr lang="en-US" b="1" dirty="0"/>
              <a:t>The solution should: </a:t>
            </a:r>
          </a:p>
          <a:p>
            <a:pPr marL="342900" indent="-342900" fontAlgn="base">
              <a:buAutoNum type="arabicPeriod"/>
            </a:pPr>
            <a:r>
              <a:rPr lang="en-US" b="1" dirty="0"/>
              <a:t>Fuse Learning Resources: Aggregate content from class notes, textbooks, research articles, and online tutorials into structured, easy-to-digest study material. </a:t>
            </a:r>
          </a:p>
          <a:p>
            <a:pPr marL="342900" indent="-342900" fontAlgn="base">
              <a:buAutoNum type="arabicPeriod"/>
            </a:pPr>
            <a:r>
              <a:rPr lang="en-US" b="1" dirty="0"/>
              <a:t>Enable Multimodal Input: Allow students to upload notes, voice queries, or images (e.g., textbook pages), and generate concise summaries, flashcards, or concept maps. </a:t>
            </a:r>
          </a:p>
          <a:p>
            <a:pPr marL="342900" indent="-342900" fontAlgn="base">
              <a:buAutoNum type="arabicPeriod"/>
            </a:pPr>
            <a:r>
              <a:rPr lang="en-US" b="1" dirty="0"/>
              <a:t>Create a Predictive &amp; Agentic Layer: Recommend personalized study plans, highlight important topics based on syllabus or past exams, and provide predictive alerts (e.g., “Focus on Topic X—frequently asked in exams”). </a:t>
            </a:r>
          </a:p>
          <a:p>
            <a:pPr marL="342900" indent="-342900" fontAlgn="base">
              <a:buAutoNum type="arabicPeriod"/>
            </a:pPr>
            <a:r>
              <a:rPr lang="en-US" b="1" dirty="0"/>
              <a:t>Visualize Study Progress: Offer a real-time dashboard showing learning milestones, weak areas, practice quizzes, and performance forecasts. </a:t>
            </a:r>
            <a:r>
              <a:rPr lang="en-US" dirty="0"/>
              <a:t>.</a:t>
            </a:r>
            <a:endParaRPr lang="en-IN" dirty="0"/>
          </a:p>
        </p:txBody>
      </p:sp>
      <p:sp>
        <p:nvSpPr>
          <p:cNvPr id="3" name="TextBox 2">
            <a:extLst>
              <a:ext uri="{FF2B5EF4-FFF2-40B4-BE49-F238E27FC236}">
                <a16:creationId xmlns:a16="http://schemas.microsoft.com/office/drawing/2014/main" xmlns="" id="{3847FA31-EA47-D27A-9D69-AF50A3080AEC}"/>
              </a:ext>
            </a:extLst>
          </p:cNvPr>
          <p:cNvSpPr txBox="1"/>
          <p:nvPr/>
        </p:nvSpPr>
        <p:spPr>
          <a:xfrm>
            <a:off x="576071" y="486363"/>
            <a:ext cx="9438785" cy="830997"/>
          </a:xfrm>
          <a:prstGeom prst="rect">
            <a:avLst/>
          </a:prstGeom>
          <a:noFill/>
        </p:spPr>
        <p:txBody>
          <a:bodyPr wrap="square" rtlCol="0">
            <a:spAutoFit/>
          </a:bodyPr>
          <a:lstStyle/>
          <a:p>
            <a:r>
              <a:rPr lang="en-US" sz="2400" b="1" dirty="0"/>
              <a:t>Problem Statement - Smart Study Generator Agent</a:t>
            </a:r>
            <a:endParaRPr lang="en-US" sz="2400" dirty="0"/>
          </a:p>
          <a:p>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xmlns=""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07CFCB91-EF22-EB8C-5B0D-4D46021F0245}"/>
              </a:ext>
            </a:extLst>
          </p:cNvPr>
          <p:cNvSpPr txBox="1"/>
          <p:nvPr/>
        </p:nvSpPr>
        <p:spPr>
          <a:xfrm>
            <a:off x="667512" y="1165753"/>
            <a:ext cx="10607040" cy="2462213"/>
          </a:xfrm>
          <a:prstGeom prst="rect">
            <a:avLst/>
          </a:prstGeom>
          <a:noFill/>
        </p:spPr>
        <p:txBody>
          <a:bodyPr wrap="square" rtlCol="0">
            <a:spAutoFit/>
          </a:bodyPr>
          <a:lstStyle/>
          <a:p>
            <a:pPr fontAlgn="base"/>
            <a:endParaRPr lang="en-US" b="1" dirty="0"/>
          </a:p>
          <a:p>
            <a:pPr marL="285750" indent="-285750" algn="just">
              <a:buFont typeface="Arial" panose="020B0604020202020204" pitchFamily="34" charset="0"/>
              <a:buChar char="•"/>
            </a:pPr>
            <a:r>
              <a:rPr lang="en-US" sz="1400" b="1" dirty="0" err="1"/>
              <a:t>Langflow</a:t>
            </a:r>
            <a:r>
              <a:rPr lang="en-US" sz="1400" b="1" dirty="0"/>
              <a:t> platform </a:t>
            </a:r>
            <a:r>
              <a:rPr lang="en-US" sz="1400" dirty="0"/>
              <a:t>-For designing and orchestrating multi-agent workflows visually.</a:t>
            </a:r>
          </a:p>
          <a:p>
            <a:pPr marL="285750" indent="-285750" algn="just">
              <a:buFont typeface="Arial" panose="020B0604020202020204" pitchFamily="34" charset="0"/>
              <a:buChar char="•"/>
            </a:pPr>
            <a:endParaRPr lang="en-US" sz="1400" dirty="0"/>
          </a:p>
          <a:p>
            <a:pPr marL="285750" indent="-285750" algn="just">
              <a:buFont typeface="Arial" panose="020B0604020202020204" pitchFamily="34" charset="0"/>
              <a:buChar char="•"/>
            </a:pPr>
            <a:r>
              <a:rPr lang="en-US" sz="1400" b="1" dirty="0"/>
              <a:t>IBM </a:t>
            </a:r>
            <a:r>
              <a:rPr lang="en-US" sz="1400" b="1" dirty="0" err="1"/>
              <a:t>Grainte</a:t>
            </a:r>
            <a:r>
              <a:rPr lang="en-US" sz="1400" b="1" dirty="0"/>
              <a:t> model </a:t>
            </a:r>
            <a:r>
              <a:rPr lang="en-US" sz="1400" dirty="0"/>
              <a:t>-  for </a:t>
            </a:r>
            <a:r>
              <a:rPr lang="en-US" sz="1400" dirty="0" err="1"/>
              <a:t>eg</a:t>
            </a:r>
            <a:r>
              <a:rPr lang="en-US" sz="1400" dirty="0"/>
              <a:t> – ibm-granite-4-h-small – For natural language understanding, reasoning, and personalization</a:t>
            </a:r>
          </a:p>
          <a:p>
            <a:pPr marL="285750" indent="-285750" algn="just">
              <a:buFont typeface="Arial" panose="020B0604020202020204" pitchFamily="34" charset="0"/>
              <a:buChar char="•"/>
            </a:pPr>
            <a:endParaRPr lang="en-US" sz="1400" dirty="0"/>
          </a:p>
          <a:p>
            <a:pPr marL="285750" indent="-285750" algn="just">
              <a:buFont typeface="Arial" panose="020B0604020202020204" pitchFamily="34" charset="0"/>
              <a:buChar char="•"/>
            </a:pPr>
            <a:r>
              <a:rPr lang="en-US" sz="1400" b="1" dirty="0"/>
              <a:t>IBM Cloud </a:t>
            </a:r>
            <a:r>
              <a:rPr lang="en-US" sz="1400" dirty="0"/>
              <a:t>– It provides the infrastructure to build, deploy, and scale the Intelligent Shopping Agent efficiently. </a:t>
            </a:r>
          </a:p>
          <a:p>
            <a:pPr marL="285750" indent="-285750" algn="just">
              <a:buFont typeface="Arial" panose="020B0604020202020204" pitchFamily="34" charset="0"/>
              <a:buChar char="•"/>
            </a:pPr>
            <a:endParaRPr lang="en-US" sz="1400" dirty="0"/>
          </a:p>
          <a:p>
            <a:pPr marL="285750" indent="-285750" algn="just">
              <a:buFont typeface="Arial" panose="020B0604020202020204" pitchFamily="34" charset="0"/>
              <a:buChar char="•"/>
            </a:pPr>
            <a:r>
              <a:rPr lang="en-US" sz="1400" b="1" dirty="0"/>
              <a:t>IBM Watsonx.ai - </a:t>
            </a:r>
            <a:r>
              <a:rPr lang="en-US" sz="1400" dirty="0"/>
              <a:t>For model deployment, embeddings, and AI governance.</a:t>
            </a: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xmlns=""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xmlns="" id="{0471B467-61AA-7BCA-460D-43041E805F9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xmlns=""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
        <p:nvSpPr>
          <p:cNvPr id="5" name="TextBox 4">
            <a:extLst>
              <a:ext uri="{FF2B5EF4-FFF2-40B4-BE49-F238E27FC236}">
                <a16:creationId xmlns:a16="http://schemas.microsoft.com/office/drawing/2014/main" xmlns="" id="{EC664840-9F3E-C57E-B98A-180E8A8E0F46}"/>
              </a:ext>
            </a:extLst>
          </p:cNvPr>
          <p:cNvSpPr txBox="1"/>
          <p:nvPr/>
        </p:nvSpPr>
        <p:spPr>
          <a:xfrm>
            <a:off x="644433" y="1436915"/>
            <a:ext cx="10345783" cy="1815882"/>
          </a:xfrm>
          <a:prstGeom prst="rect">
            <a:avLst/>
          </a:prstGeom>
          <a:noFill/>
        </p:spPr>
        <p:txBody>
          <a:bodyPr wrap="square">
            <a:spAutoFit/>
          </a:bodyPr>
          <a:lstStyle/>
          <a:p>
            <a:r>
              <a:rPr lang="en-US" sz="1600" dirty="0"/>
              <a:t>Develop an </a:t>
            </a:r>
            <a:r>
              <a:rPr lang="en-US" sz="1600" b="1" dirty="0"/>
              <a:t>Agentic AI-powered Smart Study Generator</a:t>
            </a:r>
            <a:r>
              <a:rPr lang="en-US" sz="1600" dirty="0"/>
              <a:t> using </a:t>
            </a:r>
            <a:r>
              <a:rPr lang="en-US" sz="1600" b="1" dirty="0"/>
              <a:t>IBM Granite Models</a:t>
            </a:r>
            <a:r>
              <a:rPr lang="en-US" sz="1600" dirty="0"/>
              <a:t>, </a:t>
            </a:r>
            <a:r>
              <a:rPr lang="en-US" sz="1600" b="1" dirty="0"/>
              <a:t>RAG</a:t>
            </a:r>
            <a:r>
              <a:rPr lang="en-US" sz="1600" dirty="0"/>
              <a:t>, and a </a:t>
            </a:r>
            <a:r>
              <a:rPr lang="en-US" sz="1600" b="1" dirty="0"/>
              <a:t>two-agent architecture</a:t>
            </a:r>
            <a:r>
              <a:rPr lang="en-US" sz="1600" dirty="0"/>
              <a:t>. The first agent collects, processes, and summarizes learning materials from multiple sources (notes, textbooks, images, voice, and online resources) into structured study content. The second agent analyzes student progress to create personalized study plans, generate adaptive quizzes, predict exam readiness, and recommend important topics. A real-time dashboard visualizes learning progress, weak areas, and performance forecasts, providing students with an intelligent, personalized, and adaptive learning experience.</a:t>
            </a:r>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xmlns=""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xmlns=""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xmlns=""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xmlns=""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xmlns=""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xmlns=""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xmlns=""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xmlns=""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xmlns="" id="{9BB86949-7ED1-C43B-B1E3-5122BB67A596}"/>
              </a:ext>
            </a:extLst>
          </p:cNvPr>
          <p:cNvSpPr txBox="1"/>
          <p:nvPr/>
        </p:nvSpPr>
        <p:spPr>
          <a:xfrm>
            <a:off x="474822" y="863187"/>
            <a:ext cx="8823960" cy="3970318"/>
          </a:xfrm>
          <a:prstGeom prst="rect">
            <a:avLst/>
          </a:prstGeom>
          <a:noFill/>
        </p:spPr>
        <p:txBody>
          <a:bodyPr wrap="square" rtlCol="0">
            <a:spAutoFit/>
          </a:bodyPr>
          <a:lstStyle/>
          <a:p>
            <a:endParaRPr lang="en-US" dirty="0"/>
          </a:p>
          <a:p>
            <a:pPr algn="just"/>
            <a:r>
              <a:rPr lang="en-US" sz="1400" b="1" dirty="0"/>
              <a:t>1) Chat Input </a:t>
            </a:r>
            <a:r>
              <a:rPr lang="en-US" sz="1400" dirty="0"/>
              <a:t>– Interface where users enter their queries, preferences, or meal details (text/voice/image).</a:t>
            </a:r>
          </a:p>
          <a:p>
            <a:pPr algn="just"/>
            <a:endParaRPr lang="en-US" sz="1400" dirty="0"/>
          </a:p>
          <a:p>
            <a:pPr algn="just"/>
            <a:r>
              <a:rPr lang="en-US" sz="1400" b="1" dirty="0"/>
              <a:t>2) IBM </a:t>
            </a:r>
            <a:r>
              <a:rPr lang="en-US" sz="1400" b="1" dirty="0" err="1"/>
              <a:t>watsonx</a:t>
            </a:r>
            <a:r>
              <a:rPr lang="en-US" sz="1400" b="1" dirty="0"/>
              <a:t> AI Agent </a:t>
            </a:r>
            <a:r>
              <a:rPr lang="en-US" sz="1400" dirty="0"/>
              <a:t>- Processes user input using Granite models to generate personalized shopping insights and recommendations. </a:t>
            </a:r>
          </a:p>
          <a:p>
            <a:pPr algn="just"/>
            <a:endParaRPr lang="en-US" sz="1400" dirty="0"/>
          </a:p>
          <a:p>
            <a:pPr algn="just"/>
            <a:r>
              <a:rPr lang="en-US" sz="1400" b="1" dirty="0"/>
              <a:t>3) Name of IBM Granite model - </a:t>
            </a:r>
            <a:r>
              <a:rPr lang="en-US" sz="1400" dirty="0"/>
              <a:t>ibm-granite-4-h-small  → Fast, efficient for real-time shopping recommendations.</a:t>
            </a:r>
          </a:p>
          <a:p>
            <a:pPr algn="just"/>
            <a:endParaRPr lang="en-US" sz="1400" dirty="0"/>
          </a:p>
          <a:p>
            <a:pPr algn="just"/>
            <a:r>
              <a:rPr lang="en-US" sz="1400" b="1" dirty="0"/>
              <a:t>4) Chat output -</a:t>
            </a:r>
            <a:r>
              <a:rPr lang="en-US" sz="1400" dirty="0"/>
              <a:t>Displays AI-generated responses such as which material has to use</a:t>
            </a:r>
          </a:p>
          <a:p>
            <a:pPr algn="just"/>
            <a:endParaRPr lang="en-US" sz="1400" dirty="0"/>
          </a:p>
          <a:p>
            <a:pPr algn="just"/>
            <a:endParaRPr lang="en-US" sz="1400"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xmlns=""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xmlns=""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pic>
        <p:nvPicPr>
          <p:cNvPr id="1026" name="Picture 2" descr="D:\SCET\2026\FDP_AgenticAI_CyberSecurity_QuantumComputing\Project\PK\Langflow.png"/>
          <p:cNvPicPr>
            <a:picLocks noChangeAspect="1" noChangeArrowheads="1"/>
          </p:cNvPicPr>
          <p:nvPr/>
        </p:nvPicPr>
        <p:blipFill rotWithShape="1">
          <a:blip r:embed="rId3">
            <a:extLst>
              <a:ext uri="{28A0092B-C50C-407E-A947-70E740481C1C}">
                <a14:useLocalDpi xmlns:a14="http://schemas.microsoft.com/office/drawing/2010/main" val="0"/>
              </a:ext>
            </a:extLst>
          </a:blip>
          <a:srcRect l="5035" t="5828" r="41811" b="47086"/>
          <a:stretch/>
        </p:blipFill>
        <p:spPr bwMode="auto">
          <a:xfrm>
            <a:off x="896339" y="1158216"/>
            <a:ext cx="9324976" cy="49961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xmlns=""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pic>
        <p:nvPicPr>
          <p:cNvPr id="5122" name="Picture 2" descr="D:\SCET\2026\FDP_AgenticAI_CyberSecurity_QuantumComputing\Project\PK\ArchitectureBlueprint.jpe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7590" y="771747"/>
            <a:ext cx="9025510" cy="601700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xmlns=""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xmlns="" id="{322462E8-EB3A-DA7D-44CB-4E757803A755}"/>
              </a:ext>
            </a:extLst>
          </p:cNvPr>
          <p:cNvSpPr txBox="1"/>
          <p:nvPr/>
        </p:nvSpPr>
        <p:spPr>
          <a:xfrm>
            <a:off x="621792" y="1167493"/>
            <a:ext cx="7406640" cy="1631216"/>
          </a:xfrm>
          <a:prstGeom prst="rect">
            <a:avLst/>
          </a:prstGeom>
          <a:noFill/>
        </p:spPr>
        <p:txBody>
          <a:bodyPr wrap="square" rtlCol="0">
            <a:spAutoFit/>
          </a:bodyPr>
          <a:lstStyle/>
          <a:p>
            <a:r>
              <a:rPr lang="en-US" dirty="0"/>
              <a:t>Agentic AI enables autonomous collaboration between specialized AI agents to deliver a personalized learning experience. One agent organizes and transforms diverse study resources into structured content, while the other analyzes student performance to generate adaptive </a:t>
            </a:r>
            <a:r>
              <a:rPr lang="en-US" sz="1600" dirty="0"/>
              <a:t>study</a:t>
            </a:r>
            <a:r>
              <a:rPr lang="en-US" dirty="0"/>
              <a:t> plans, predictive recommendations, and real-time learning insights. This collaborative approach creates an intelligent, proactive, and continuously improving study companion.</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xmlns=""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xmlns=""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smtClean="0"/>
              <a:t>10806 token </a:t>
            </a:r>
            <a:r>
              <a:rPr lang="en-US" dirty="0"/>
              <a:t>are used</a:t>
            </a:r>
          </a:p>
        </p:txBody>
      </p:sp>
      <p:sp>
        <p:nvSpPr>
          <p:cNvPr id="14" name="TextBox 13">
            <a:extLst>
              <a:ext uri="{FF2B5EF4-FFF2-40B4-BE49-F238E27FC236}">
                <a16:creationId xmlns:a16="http://schemas.microsoft.com/office/drawing/2014/main" xmlns=""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xmlns=""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pic>
        <p:nvPicPr>
          <p:cNvPr id="2050" name="Picture 2" descr="D:\SCET\2026\FDP_AgenticAI_CyberSecurity_QuantumComputing\Project\PK\ResourceUsage.png"/>
          <p:cNvPicPr>
            <a:picLocks noChangeAspect="1" noChangeArrowheads="1"/>
          </p:cNvPicPr>
          <p:nvPr/>
        </p:nvPicPr>
        <p:blipFill rotWithShape="1">
          <a:blip r:embed="rId3">
            <a:extLst>
              <a:ext uri="{28A0092B-C50C-407E-A947-70E740481C1C}">
                <a14:useLocalDpi xmlns:a14="http://schemas.microsoft.com/office/drawing/2010/main" val="0"/>
              </a:ext>
            </a:extLst>
          </a:blip>
          <a:srcRect l="4933" t="6235" r="41750" b="46630"/>
          <a:stretch/>
        </p:blipFill>
        <p:spPr bwMode="auto">
          <a:xfrm>
            <a:off x="5268563" y="2523673"/>
            <a:ext cx="6460176" cy="3454302"/>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320635" y="2339439"/>
            <a:ext cx="4358244" cy="523220"/>
          </a:xfrm>
          <a:prstGeom prst="rect">
            <a:avLst/>
          </a:prstGeom>
          <a:noFill/>
        </p:spPr>
        <p:txBody>
          <a:bodyPr wrap="square" rtlCol="0">
            <a:spAutoFit/>
          </a:bodyPr>
          <a:lstStyle/>
          <a:p>
            <a:pPr marL="285750" indent="-285750">
              <a:buFont typeface="Arial" pitchFamily="34" charset="0"/>
              <a:buChar char="•"/>
            </a:pPr>
            <a:r>
              <a:rPr lang="en-US" dirty="0" smtClean="0"/>
              <a:t>Tokens : 32</a:t>
            </a:r>
            <a:r>
              <a:rPr lang="en-IN" dirty="0" smtClean="0"/>
              <a:t>33</a:t>
            </a:r>
          </a:p>
          <a:p>
            <a:pPr marL="285750" indent="-285750">
              <a:buFont typeface="Arial" pitchFamily="34" charset="0"/>
              <a:buChar char="•"/>
            </a:pPr>
            <a:r>
              <a:rPr lang="en-IN" dirty="0" smtClean="0"/>
              <a:t>Forgot to take screenshot before giving prompt</a:t>
            </a:r>
            <a:endParaRPr lang="en-US" dirty="0" smtClean="0"/>
          </a:p>
        </p:txBody>
      </p:sp>
    </p:spTree>
    <p:extLst>
      <p:ext uri="{BB962C8B-B14F-4D97-AF65-F5344CB8AC3E}">
        <p14:creationId xmlns:p14="http://schemas.microsoft.com/office/powerpoint/2010/main" val="2443441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smtClean="0">
                <a:sym typeface="Times New Roman"/>
              </a:rPr>
              <a:t>Output</a:t>
            </a:r>
            <a:endParaRPr sz="2400" b="1" dirty="0">
              <a:sym typeface="Times New Roman"/>
            </a:endParaRPr>
          </a:p>
        </p:txBody>
      </p:sp>
      <p:sp>
        <p:nvSpPr>
          <p:cNvPr id="280" name="Google Shape;280;p18">
            <a:extLst>
              <a:ext uri="{FF2B5EF4-FFF2-40B4-BE49-F238E27FC236}">
                <a16:creationId xmlns:a16="http://schemas.microsoft.com/office/drawing/2014/main" xmlns=""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6146" name="Picture 2" descr="D:\SCET\2026\FDP_AgenticAI_CyberSecurity_QuantumComputing\Project\PK\AgentOutputCroppe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799" y="919442"/>
            <a:ext cx="10569933" cy="56972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29952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xmlns=""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xmlns="" id="{ED65F54F-855A-0DB6-09A6-3212C5F7405B}"/>
              </a:ext>
            </a:extLst>
          </p:cNvPr>
          <p:cNvSpPr txBox="1"/>
          <p:nvPr/>
        </p:nvSpPr>
        <p:spPr>
          <a:xfrm>
            <a:off x="777240" y="1207008"/>
            <a:ext cx="11301984" cy="2523768"/>
          </a:xfrm>
          <a:prstGeom prst="rect">
            <a:avLst/>
          </a:prstGeom>
          <a:noFill/>
        </p:spPr>
        <p:txBody>
          <a:bodyPr wrap="square" rtlCol="0">
            <a:spAutoFit/>
          </a:bodyPr>
          <a:lstStyle/>
          <a:p>
            <a:r>
              <a:rPr lang="en-US" sz="2400" dirty="0"/>
              <a:t>The Smart Study Generator combines </a:t>
            </a:r>
            <a:r>
              <a:rPr lang="en-US" sz="2400" b="1" dirty="0"/>
              <a:t>multimodal learning</a:t>
            </a:r>
            <a:r>
              <a:rPr lang="en-US" sz="2400" dirty="0"/>
              <a:t>, </a:t>
            </a:r>
            <a:r>
              <a:rPr lang="en-US" sz="2400" b="1" dirty="0"/>
              <a:t>RAG-based knowledge retrieval</a:t>
            </a:r>
            <a:r>
              <a:rPr lang="en-US" sz="2400" dirty="0"/>
              <a:t>, and a </a:t>
            </a:r>
            <a:r>
              <a:rPr lang="en-US" sz="2400" b="1" dirty="0"/>
              <a:t>two-agent Agentic AI architecture</a:t>
            </a:r>
            <a:r>
              <a:rPr lang="en-US" sz="2400" dirty="0"/>
              <a:t> to deliver personalized study materials, adaptive learning plans, predictive exam insights, and real-time progress tracking. Unlike traditional study tools, it continuously learns from student interactions and dynamically adapts to individual learning needs.</a:t>
            </a:r>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xmlns="" id="{15507A2F-9304-7475-5C74-2BAA93879CFE}"/>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b="0" i="0" u="none" strike="noStrike" cap="none" dirty="0">
                <a:solidFill>
                  <a:srgbClr val="2B3541"/>
                </a:solidFill>
                <a:latin typeface="Times New Roman"/>
                <a:ea typeface="Times New Roman"/>
                <a:cs typeface="Times New Roman"/>
                <a:sym typeface="Times New Roman"/>
              </a:rPr>
              <a:t>· </a:t>
            </a:r>
            <a:r>
              <a:rPr lang="en-US" sz="1850" dirty="0" err="1" smtClean="0">
                <a:solidFill>
                  <a:srgbClr val="2B3541"/>
                </a:solidFill>
                <a:latin typeface="Times New Roman"/>
                <a:ea typeface="Times New Roman"/>
                <a:cs typeface="Times New Roman"/>
                <a:sym typeface="Times New Roman"/>
              </a:rPr>
              <a:t>GitHub</a:t>
            </a:r>
            <a:r>
              <a:rPr lang="en-US" sz="1850" dirty="0" smtClean="0">
                <a:solidFill>
                  <a:srgbClr val="2B3541"/>
                </a:solidFill>
                <a:latin typeface="Times New Roman"/>
                <a:ea typeface="Times New Roman"/>
                <a:cs typeface="Times New Roman"/>
                <a:sym typeface="Times New Roman"/>
              </a:rPr>
              <a:t> Public </a:t>
            </a:r>
            <a:r>
              <a:rPr lang="en-US" sz="1850" dirty="0">
                <a:solidFill>
                  <a:srgbClr val="2B3541"/>
                </a:solidFill>
                <a:latin typeface="Times New Roman"/>
                <a:ea typeface="Times New Roman"/>
                <a:cs typeface="Times New Roman"/>
                <a:sym typeface="Times New Roman"/>
              </a:rPr>
              <a:t>repository </a:t>
            </a:r>
            <a:r>
              <a:rPr lang="en-US" sz="1850" dirty="0" smtClean="0">
                <a:solidFill>
                  <a:srgbClr val="2B3541"/>
                </a:solidFill>
                <a:latin typeface="Times New Roman"/>
                <a:ea typeface="Times New Roman"/>
                <a:cs typeface="Times New Roman"/>
                <a:sym typeface="Times New Roman"/>
              </a:rPr>
              <a:t>link:</a:t>
            </a:r>
          </a:p>
          <a:p>
            <a:pPr lvl="0">
              <a:lnSpc>
                <a:spcPct val="162162"/>
              </a:lnSpc>
              <a:buClr>
                <a:srgbClr val="2B3541"/>
              </a:buClr>
              <a:buSzPts val="1850"/>
            </a:pPr>
            <a:r>
              <a:rPr lang="en-US" sz="1850" dirty="0" smtClean="0">
                <a:solidFill>
                  <a:srgbClr val="2B3541"/>
                </a:solidFill>
                <a:latin typeface="Times New Roman"/>
                <a:ea typeface="Times New Roman"/>
                <a:cs typeface="Times New Roman"/>
                <a:sym typeface="Times New Roman"/>
              </a:rPr>
              <a:t>https</a:t>
            </a:r>
            <a:r>
              <a:rPr lang="en-US" sz="1850" dirty="0">
                <a:solidFill>
                  <a:srgbClr val="2B3541"/>
                </a:solidFill>
                <a:latin typeface="Times New Roman"/>
                <a:ea typeface="Times New Roman"/>
                <a:cs typeface="Times New Roman"/>
                <a:sym typeface="Times New Roman"/>
              </a:rPr>
              <a:t>://github.com/prashantkeswani-commits/FDP_IBM_Project_SmartStudyGeneratorAgent </a:t>
            </a: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xmlns=""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154848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smtClean="0">
                <a:sym typeface="Times New Roman"/>
              </a:rPr>
              <a:t>Certificate – Generative AI in Action</a:t>
            </a:r>
            <a:endParaRPr sz="2400" b="1" dirty="0">
              <a:sym typeface="Times New Roman"/>
            </a:endParaRPr>
          </a:p>
        </p:txBody>
      </p:sp>
      <p:sp>
        <p:nvSpPr>
          <p:cNvPr id="279" name="Google Shape;279;p18">
            <a:extLst>
              <a:ext uri="{FF2B5EF4-FFF2-40B4-BE49-F238E27FC236}">
                <a16:creationId xmlns:a16="http://schemas.microsoft.com/office/drawing/2014/main" xmlns="" id="{15507A2F-9304-7475-5C74-2BAA93879CFE}"/>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xmlns=""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graphicFrame>
        <p:nvGraphicFramePr>
          <p:cNvPr id="2" name="Object 1"/>
          <p:cNvGraphicFramePr>
            <a:graphicFrameLocks noChangeAspect="1"/>
          </p:cNvGraphicFramePr>
          <p:nvPr>
            <p:extLst>
              <p:ext uri="{D42A27DB-BD31-4B8C-83A1-F6EECF244321}">
                <p14:modId xmlns:p14="http://schemas.microsoft.com/office/powerpoint/2010/main" val="132148333"/>
              </p:ext>
            </p:extLst>
          </p:nvPr>
        </p:nvGraphicFramePr>
        <p:xfrm>
          <a:off x="2054114" y="1211614"/>
          <a:ext cx="7543800" cy="5829300"/>
        </p:xfrm>
        <a:graphic>
          <a:graphicData uri="http://schemas.openxmlformats.org/presentationml/2006/ole">
            <mc:AlternateContent xmlns:mc="http://schemas.openxmlformats.org/markup-compatibility/2006">
              <mc:Choice xmlns:v="urn:schemas-microsoft-com:vml" Requires="v">
                <p:oleObj spid="_x0000_s7172" name="Acrobat Document" r:id="rId4" imgW="7543441" imgH="5829159" progId="AcroExch.Document.11">
                  <p:embed/>
                </p:oleObj>
              </mc:Choice>
              <mc:Fallback>
                <p:oleObj name="Acrobat Document" r:id="rId4" imgW="7543441" imgH="5829159" progId="AcroExch.Document.11">
                  <p:embed/>
                  <p:pic>
                    <p:nvPicPr>
                      <p:cNvPr id="0" name=""/>
                      <p:cNvPicPr/>
                      <p:nvPr/>
                    </p:nvPicPr>
                    <p:blipFill>
                      <a:blip r:embed="rId5"/>
                      <a:stretch>
                        <a:fillRect/>
                      </a:stretch>
                    </p:blipFill>
                    <p:spPr>
                      <a:xfrm>
                        <a:off x="2054114" y="1211614"/>
                        <a:ext cx="7543800" cy="5829300"/>
                      </a:xfrm>
                      <a:prstGeom prst="rect">
                        <a:avLst/>
                      </a:prstGeom>
                    </p:spPr>
                  </p:pic>
                </p:oleObj>
              </mc:Fallback>
            </mc:AlternateContent>
          </a:graphicData>
        </a:graphic>
      </p:graphicFrame>
    </p:spTree>
    <p:extLst>
      <p:ext uri="{BB962C8B-B14F-4D97-AF65-F5344CB8AC3E}">
        <p14:creationId xmlns:p14="http://schemas.microsoft.com/office/powerpoint/2010/main" val="38767402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D62F03A8-A8A8-CB93-006E-7173DC866F6F}"/>
              </a:ext>
            </a:extLst>
          </p:cNvPr>
          <p:cNvSpPr/>
          <p:nvPr/>
        </p:nvSpPr>
        <p:spPr>
          <a:xfrm>
            <a:off x="1218724" y="420729"/>
            <a:ext cx="831897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smtClean="0">
                <a:sym typeface="Times New Roman"/>
              </a:rPr>
              <a:t>Certificate – Getting Started with </a:t>
            </a:r>
            <a:r>
              <a:rPr lang="en-US" sz="2400" b="1" dirty="0" err="1" smtClean="0">
                <a:sym typeface="Times New Roman"/>
              </a:rPr>
              <a:t>Cybersecurity</a:t>
            </a:r>
            <a:endParaRPr sz="2400" b="1" dirty="0">
              <a:sym typeface="Times New Roman"/>
            </a:endParaRPr>
          </a:p>
        </p:txBody>
      </p:sp>
      <p:sp>
        <p:nvSpPr>
          <p:cNvPr id="279" name="Google Shape;279;p18">
            <a:extLst>
              <a:ext uri="{FF2B5EF4-FFF2-40B4-BE49-F238E27FC236}">
                <a16:creationId xmlns:a16="http://schemas.microsoft.com/office/drawing/2014/main" xmlns="" id="{15507A2F-9304-7475-5C74-2BAA93879CFE}"/>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xmlns=""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graphicFrame>
        <p:nvGraphicFramePr>
          <p:cNvPr id="3" name="Object 2"/>
          <p:cNvGraphicFramePr>
            <a:graphicFrameLocks noChangeAspect="1"/>
          </p:cNvGraphicFramePr>
          <p:nvPr>
            <p:extLst>
              <p:ext uri="{D42A27DB-BD31-4B8C-83A1-F6EECF244321}">
                <p14:modId xmlns:p14="http://schemas.microsoft.com/office/powerpoint/2010/main" val="3356449031"/>
              </p:ext>
            </p:extLst>
          </p:nvPr>
        </p:nvGraphicFramePr>
        <p:xfrm>
          <a:off x="2235200" y="1054099"/>
          <a:ext cx="7330142" cy="5664201"/>
        </p:xfrm>
        <a:graphic>
          <a:graphicData uri="http://schemas.openxmlformats.org/presentationml/2006/ole">
            <mc:AlternateContent xmlns:mc="http://schemas.openxmlformats.org/markup-compatibility/2006">
              <mc:Choice xmlns:v="urn:schemas-microsoft-com:vml" Requires="v">
                <p:oleObj spid="_x0000_s8196" name="Acrobat Document" r:id="rId4" imgW="7543441" imgH="5829159" progId="AcroExch.Document.11">
                  <p:embed/>
                </p:oleObj>
              </mc:Choice>
              <mc:Fallback>
                <p:oleObj name="Acrobat Document" r:id="rId4" imgW="7543441" imgH="5829159" progId="AcroExch.Document.11">
                  <p:embed/>
                  <p:pic>
                    <p:nvPicPr>
                      <p:cNvPr id="0" name=""/>
                      <p:cNvPicPr/>
                      <p:nvPr/>
                    </p:nvPicPr>
                    <p:blipFill>
                      <a:blip r:embed="rId5"/>
                      <a:stretch>
                        <a:fillRect/>
                      </a:stretch>
                    </p:blipFill>
                    <p:spPr>
                      <a:xfrm>
                        <a:off x="2235200" y="1054099"/>
                        <a:ext cx="7330142" cy="5664201"/>
                      </a:xfrm>
                      <a:prstGeom prst="rect">
                        <a:avLst/>
                      </a:prstGeom>
                    </p:spPr>
                  </p:pic>
                </p:oleObj>
              </mc:Fallback>
            </mc:AlternateContent>
          </a:graphicData>
        </a:graphic>
      </p:graphicFrame>
    </p:spTree>
    <p:extLst>
      <p:ext uri="{BB962C8B-B14F-4D97-AF65-F5344CB8AC3E}">
        <p14:creationId xmlns:p14="http://schemas.microsoft.com/office/powerpoint/2010/main" val="17579983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D62F03A8-A8A8-CB93-006E-7173DC866F6F}"/>
              </a:ext>
            </a:extLst>
          </p:cNvPr>
          <p:cNvSpPr/>
          <p:nvPr/>
        </p:nvSpPr>
        <p:spPr>
          <a:xfrm>
            <a:off x="1218724" y="420729"/>
            <a:ext cx="977947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smtClean="0">
                <a:sym typeface="Times New Roman"/>
              </a:rPr>
              <a:t>Certificate – Level Up </a:t>
            </a:r>
            <a:r>
              <a:rPr lang="en-US" sz="2400" b="1" dirty="0" err="1" smtClean="0">
                <a:sym typeface="Times New Roman"/>
              </a:rPr>
              <a:t>Cybersecurity</a:t>
            </a:r>
            <a:r>
              <a:rPr lang="en-US" sz="2400" b="1" dirty="0" smtClean="0">
                <a:sym typeface="Times New Roman"/>
              </a:rPr>
              <a:t> with Generative AI</a:t>
            </a:r>
            <a:endParaRPr sz="2400" b="1" dirty="0">
              <a:sym typeface="Times New Roman"/>
            </a:endParaRPr>
          </a:p>
        </p:txBody>
      </p:sp>
      <p:sp>
        <p:nvSpPr>
          <p:cNvPr id="279" name="Google Shape;279;p18">
            <a:extLst>
              <a:ext uri="{FF2B5EF4-FFF2-40B4-BE49-F238E27FC236}">
                <a16:creationId xmlns:a16="http://schemas.microsoft.com/office/drawing/2014/main" xmlns="" id="{15507A2F-9304-7475-5C74-2BAA93879CFE}"/>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xmlns=""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graphicFrame>
        <p:nvGraphicFramePr>
          <p:cNvPr id="3" name="Object 2"/>
          <p:cNvGraphicFramePr>
            <a:graphicFrameLocks noChangeAspect="1"/>
          </p:cNvGraphicFramePr>
          <p:nvPr>
            <p:extLst>
              <p:ext uri="{D42A27DB-BD31-4B8C-83A1-F6EECF244321}">
                <p14:modId xmlns:p14="http://schemas.microsoft.com/office/powerpoint/2010/main" val="1845635456"/>
              </p:ext>
            </p:extLst>
          </p:nvPr>
        </p:nvGraphicFramePr>
        <p:xfrm>
          <a:off x="2060575" y="1124746"/>
          <a:ext cx="8020050" cy="5667375"/>
        </p:xfrm>
        <a:graphic>
          <a:graphicData uri="http://schemas.openxmlformats.org/presentationml/2006/ole">
            <mc:AlternateContent xmlns:mc="http://schemas.openxmlformats.org/markup-compatibility/2006">
              <mc:Choice xmlns:v="urn:schemas-microsoft-com:vml" Requires="v">
                <p:oleObj spid="_x0000_s9220" name="Acrobat Document" r:id="rId4" imgW="8020012" imgH="5667018" progId="AcroExch.Document.11">
                  <p:embed/>
                </p:oleObj>
              </mc:Choice>
              <mc:Fallback>
                <p:oleObj name="Acrobat Document" r:id="rId4" imgW="8020012" imgH="5667018" progId="AcroExch.Document.11">
                  <p:embed/>
                  <p:pic>
                    <p:nvPicPr>
                      <p:cNvPr id="0" name=""/>
                      <p:cNvPicPr/>
                      <p:nvPr/>
                    </p:nvPicPr>
                    <p:blipFill>
                      <a:blip r:embed="rId5"/>
                      <a:stretch>
                        <a:fillRect/>
                      </a:stretch>
                    </p:blipFill>
                    <p:spPr>
                      <a:xfrm>
                        <a:off x="2060575" y="1124746"/>
                        <a:ext cx="8020050" cy="5667375"/>
                      </a:xfrm>
                      <a:prstGeom prst="rect">
                        <a:avLst/>
                      </a:prstGeom>
                    </p:spPr>
                  </p:pic>
                </p:oleObj>
              </mc:Fallback>
            </mc:AlternateContent>
          </a:graphicData>
        </a:graphic>
      </p:graphicFrame>
    </p:spTree>
    <p:extLst>
      <p:ext uri="{BB962C8B-B14F-4D97-AF65-F5344CB8AC3E}">
        <p14:creationId xmlns:p14="http://schemas.microsoft.com/office/powerpoint/2010/main" val="17579983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smtClean="0">
                <a:sym typeface="Times New Roman"/>
              </a:rPr>
              <a:t>Certificate – Exploring Quantum Computing</a:t>
            </a:r>
            <a:endParaRPr sz="2400" b="1" dirty="0">
              <a:sym typeface="Times New Roman"/>
            </a:endParaRPr>
          </a:p>
        </p:txBody>
      </p:sp>
      <p:sp>
        <p:nvSpPr>
          <p:cNvPr id="279" name="Google Shape;279;p18">
            <a:extLst>
              <a:ext uri="{FF2B5EF4-FFF2-40B4-BE49-F238E27FC236}">
                <a16:creationId xmlns:a16="http://schemas.microsoft.com/office/drawing/2014/main" xmlns="" id="{15507A2F-9304-7475-5C74-2BAA93879CFE}"/>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xmlns=""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graphicFrame>
        <p:nvGraphicFramePr>
          <p:cNvPr id="3" name="Object 2"/>
          <p:cNvGraphicFramePr>
            <a:graphicFrameLocks noChangeAspect="1"/>
          </p:cNvGraphicFramePr>
          <p:nvPr>
            <p:extLst>
              <p:ext uri="{D42A27DB-BD31-4B8C-83A1-F6EECF244321}">
                <p14:modId xmlns:p14="http://schemas.microsoft.com/office/powerpoint/2010/main" val="998608670"/>
              </p:ext>
            </p:extLst>
          </p:nvPr>
        </p:nvGraphicFramePr>
        <p:xfrm>
          <a:off x="2098675" y="1124746"/>
          <a:ext cx="8020050" cy="5667375"/>
        </p:xfrm>
        <a:graphic>
          <a:graphicData uri="http://schemas.openxmlformats.org/presentationml/2006/ole">
            <mc:AlternateContent xmlns:mc="http://schemas.openxmlformats.org/markup-compatibility/2006">
              <mc:Choice xmlns:v="urn:schemas-microsoft-com:vml" Requires="v">
                <p:oleObj spid="_x0000_s10244" name="Acrobat Document" r:id="rId4" imgW="8020012" imgH="5667018" progId="AcroExch.Document.11">
                  <p:embed/>
                </p:oleObj>
              </mc:Choice>
              <mc:Fallback>
                <p:oleObj name="Acrobat Document" r:id="rId4" imgW="8020012" imgH="5667018" progId="AcroExch.Document.11">
                  <p:embed/>
                  <p:pic>
                    <p:nvPicPr>
                      <p:cNvPr id="0" name=""/>
                      <p:cNvPicPr/>
                      <p:nvPr/>
                    </p:nvPicPr>
                    <p:blipFill>
                      <a:blip r:embed="rId5"/>
                      <a:stretch>
                        <a:fillRect/>
                      </a:stretch>
                    </p:blipFill>
                    <p:spPr>
                      <a:xfrm>
                        <a:off x="2098675" y="1124746"/>
                        <a:ext cx="8020050" cy="5667375"/>
                      </a:xfrm>
                      <a:prstGeom prst="rect">
                        <a:avLst/>
                      </a:prstGeom>
                    </p:spPr>
                  </p:pic>
                </p:oleObj>
              </mc:Fallback>
            </mc:AlternateContent>
          </a:graphicData>
        </a:graphic>
      </p:graphicFrame>
    </p:spTree>
    <p:extLst>
      <p:ext uri="{BB962C8B-B14F-4D97-AF65-F5344CB8AC3E}">
        <p14:creationId xmlns:p14="http://schemas.microsoft.com/office/powerpoint/2010/main" val="17579983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D62F03A8-A8A8-CB93-006E-7173DC866F6F}"/>
              </a:ext>
            </a:extLst>
          </p:cNvPr>
          <p:cNvSpPr/>
          <p:nvPr/>
        </p:nvSpPr>
        <p:spPr>
          <a:xfrm>
            <a:off x="1218724" y="420729"/>
            <a:ext cx="1010967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smtClean="0">
                <a:sym typeface="Times New Roman"/>
              </a:rPr>
              <a:t>Certificate – Lab: Troubleshoot your code using IBM Bob</a:t>
            </a:r>
          </a:p>
        </p:txBody>
      </p:sp>
      <p:sp>
        <p:nvSpPr>
          <p:cNvPr id="279" name="Google Shape;279;p18">
            <a:extLst>
              <a:ext uri="{FF2B5EF4-FFF2-40B4-BE49-F238E27FC236}">
                <a16:creationId xmlns:a16="http://schemas.microsoft.com/office/drawing/2014/main" xmlns="" id="{15507A2F-9304-7475-5C74-2BAA93879CFE}"/>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xmlns=""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graphicFrame>
        <p:nvGraphicFramePr>
          <p:cNvPr id="3" name="Object 2"/>
          <p:cNvGraphicFramePr>
            <a:graphicFrameLocks noChangeAspect="1"/>
          </p:cNvGraphicFramePr>
          <p:nvPr>
            <p:extLst>
              <p:ext uri="{D42A27DB-BD31-4B8C-83A1-F6EECF244321}">
                <p14:modId xmlns:p14="http://schemas.microsoft.com/office/powerpoint/2010/main" val="1840315269"/>
              </p:ext>
            </p:extLst>
          </p:nvPr>
        </p:nvGraphicFramePr>
        <p:xfrm>
          <a:off x="2692399" y="1023844"/>
          <a:ext cx="7413625" cy="5238844"/>
        </p:xfrm>
        <a:graphic>
          <a:graphicData uri="http://schemas.openxmlformats.org/presentationml/2006/ole">
            <mc:AlternateContent xmlns:mc="http://schemas.openxmlformats.org/markup-compatibility/2006">
              <mc:Choice xmlns:v="urn:schemas-microsoft-com:vml" Requires="v">
                <p:oleObj spid="_x0000_s11267" name="Acrobat Document" r:id="rId4" imgW="8020012" imgH="5667018" progId="AcroExch.Document.11">
                  <p:embed/>
                </p:oleObj>
              </mc:Choice>
              <mc:Fallback>
                <p:oleObj name="Acrobat Document" r:id="rId4" imgW="8020012" imgH="5667018" progId="AcroExch.Document.11">
                  <p:embed/>
                  <p:pic>
                    <p:nvPicPr>
                      <p:cNvPr id="0" name=""/>
                      <p:cNvPicPr/>
                      <p:nvPr/>
                    </p:nvPicPr>
                    <p:blipFill>
                      <a:blip r:embed="rId5"/>
                      <a:stretch>
                        <a:fillRect/>
                      </a:stretch>
                    </p:blipFill>
                    <p:spPr>
                      <a:xfrm>
                        <a:off x="2692399" y="1023844"/>
                        <a:ext cx="7413625" cy="5238844"/>
                      </a:xfrm>
                      <a:prstGeom prst="rect">
                        <a:avLst/>
                      </a:prstGeom>
                    </p:spPr>
                  </p:pic>
                </p:oleObj>
              </mc:Fallback>
            </mc:AlternateContent>
          </a:graphicData>
        </a:graphic>
      </p:graphicFrame>
    </p:spTree>
    <p:extLst>
      <p:ext uri="{BB962C8B-B14F-4D97-AF65-F5344CB8AC3E}">
        <p14:creationId xmlns:p14="http://schemas.microsoft.com/office/powerpoint/2010/main" val="17579983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xmlns=""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342900" marR="0" lvl="0" indent="-342900" algn="l" rtl="0">
              <a:lnSpc>
                <a:spcPct val="162162"/>
              </a:lnSpc>
              <a:spcBef>
                <a:spcPts val="0"/>
              </a:spcBef>
              <a:spcAft>
                <a:spcPts val="0"/>
              </a:spcAft>
              <a:buClr>
                <a:srgbClr val="2B3541"/>
              </a:buClr>
              <a:buSzPts val="1850"/>
              <a:buFont typeface="Arial" panose="020B0604020202020204" pitchFamily="34" charset="0"/>
              <a:buChar char="•"/>
            </a:pPr>
            <a:r>
              <a:rPr lang="en-US" sz="1850" i="0" u="none" strike="noStrike" cap="none" dirty="0">
                <a:solidFill>
                  <a:srgbClr val="2B3541"/>
                </a:solidFill>
                <a:latin typeface="+mn-lt"/>
                <a:ea typeface="Times New Roman"/>
                <a:cs typeface="Times New Roman"/>
                <a:sym typeface="Times New Roman"/>
              </a:rPr>
              <a:t>Future Scope</a:t>
            </a:r>
          </a:p>
          <a:p>
            <a:pPr marL="342900" marR="0" lvl="0" indent="-342900" algn="l" rtl="0">
              <a:lnSpc>
                <a:spcPct val="162162"/>
              </a:lnSpc>
              <a:spcBef>
                <a:spcPts val="0"/>
              </a:spcBef>
              <a:spcAft>
                <a:spcPts val="0"/>
              </a:spcAft>
              <a:buClr>
                <a:srgbClr val="2B3541"/>
              </a:buClr>
              <a:buSzPts val="1850"/>
              <a:buFont typeface="Arial" panose="020B0604020202020204" pitchFamily="34" charset="0"/>
              <a:buChar char="•"/>
            </a:pPr>
            <a:r>
              <a:rPr lang="en-US" sz="1850" i="0" u="none" strike="noStrike" cap="none" dirty="0">
                <a:solidFill>
                  <a:srgbClr val="2B3541"/>
                </a:solidFill>
                <a:latin typeface="+mn-lt"/>
                <a:ea typeface="Times New Roman"/>
                <a:cs typeface="Times New Roman"/>
                <a:sym typeface="Times New Roman"/>
              </a:rPr>
              <a:t>Integrate AR/VR-based immersive learning for interactive education.</a:t>
            </a:r>
          </a:p>
          <a:p>
            <a:pPr marL="342900" marR="0" lvl="0" indent="-342900" algn="l" rtl="0">
              <a:lnSpc>
                <a:spcPct val="162162"/>
              </a:lnSpc>
              <a:spcBef>
                <a:spcPts val="0"/>
              </a:spcBef>
              <a:spcAft>
                <a:spcPts val="0"/>
              </a:spcAft>
              <a:buClr>
                <a:srgbClr val="2B3541"/>
              </a:buClr>
              <a:buSzPts val="1850"/>
              <a:buFont typeface="Arial" panose="020B0604020202020204" pitchFamily="34" charset="0"/>
              <a:buChar char="•"/>
            </a:pPr>
            <a:r>
              <a:rPr lang="en-US" sz="1850" i="0" u="none" strike="noStrike" cap="none" dirty="0">
                <a:solidFill>
                  <a:srgbClr val="2B3541"/>
                </a:solidFill>
                <a:latin typeface="+mn-lt"/>
                <a:ea typeface="Times New Roman"/>
                <a:cs typeface="Times New Roman"/>
                <a:sym typeface="Times New Roman"/>
              </a:rPr>
              <a:t>Support multiple languages to make learning accessible to a wider audience.</a:t>
            </a:r>
          </a:p>
          <a:p>
            <a:pPr marL="342900" marR="0" lvl="0" indent="-342900" algn="l" rtl="0">
              <a:lnSpc>
                <a:spcPct val="162162"/>
              </a:lnSpc>
              <a:spcBef>
                <a:spcPts val="0"/>
              </a:spcBef>
              <a:spcAft>
                <a:spcPts val="0"/>
              </a:spcAft>
              <a:buClr>
                <a:srgbClr val="2B3541"/>
              </a:buClr>
              <a:buSzPts val="1850"/>
              <a:buFont typeface="Arial" panose="020B0604020202020204" pitchFamily="34" charset="0"/>
              <a:buChar char="•"/>
            </a:pPr>
            <a:r>
              <a:rPr lang="en-US" sz="1850" i="0" u="none" strike="noStrike" cap="none" dirty="0">
                <a:solidFill>
                  <a:srgbClr val="2B3541"/>
                </a:solidFill>
                <a:latin typeface="+mn-lt"/>
                <a:ea typeface="Times New Roman"/>
                <a:cs typeface="Times New Roman"/>
                <a:sym typeface="Times New Roman"/>
              </a:rPr>
              <a:t>Incorporate real-time collaboration for group study and peer learning.</a:t>
            </a:r>
          </a:p>
          <a:p>
            <a:pPr marL="342900" marR="0" lvl="0" indent="-342900" algn="l" rtl="0">
              <a:lnSpc>
                <a:spcPct val="162162"/>
              </a:lnSpc>
              <a:spcBef>
                <a:spcPts val="0"/>
              </a:spcBef>
              <a:spcAft>
                <a:spcPts val="0"/>
              </a:spcAft>
              <a:buClr>
                <a:srgbClr val="2B3541"/>
              </a:buClr>
              <a:buSzPts val="1850"/>
              <a:buFont typeface="Arial" panose="020B0604020202020204" pitchFamily="34" charset="0"/>
              <a:buChar char="•"/>
            </a:pPr>
            <a:r>
              <a:rPr lang="en-US" sz="1850" i="0" u="none" strike="noStrike" cap="none" dirty="0">
                <a:solidFill>
                  <a:srgbClr val="2B3541"/>
                </a:solidFill>
                <a:latin typeface="+mn-lt"/>
                <a:ea typeface="Times New Roman"/>
                <a:cs typeface="Times New Roman"/>
                <a:sym typeface="Times New Roman"/>
              </a:rPr>
              <a:t>Enable integration with Learning Management Systems (LMS) and educational platforms.</a:t>
            </a:r>
          </a:p>
          <a:p>
            <a:pPr marL="342900" marR="0" lvl="0" indent="-342900" algn="l" rtl="0">
              <a:lnSpc>
                <a:spcPct val="162162"/>
              </a:lnSpc>
              <a:spcBef>
                <a:spcPts val="0"/>
              </a:spcBef>
              <a:spcAft>
                <a:spcPts val="0"/>
              </a:spcAft>
              <a:buClr>
                <a:srgbClr val="2B3541"/>
              </a:buClr>
              <a:buSzPts val="1850"/>
              <a:buFont typeface="Arial" panose="020B0604020202020204" pitchFamily="34" charset="0"/>
              <a:buChar char="•"/>
            </a:pPr>
            <a:r>
              <a:rPr lang="en-US" sz="1850" i="0" u="none" strike="noStrike" cap="none" dirty="0">
                <a:solidFill>
                  <a:srgbClr val="2B3541"/>
                </a:solidFill>
                <a:latin typeface="+mn-lt"/>
                <a:ea typeface="Times New Roman"/>
                <a:cs typeface="Times New Roman"/>
                <a:sym typeface="Times New Roman"/>
              </a:rPr>
              <a:t>Enhance predictive analytics using advanced AI to provide personalized career and skill recommendations.</a:t>
            </a:r>
          </a:p>
          <a:p>
            <a:pPr marL="342900" marR="0" lvl="0" indent="-342900" algn="l" rtl="0">
              <a:lnSpc>
                <a:spcPct val="162162"/>
              </a:lnSpc>
              <a:spcBef>
                <a:spcPts val="0"/>
              </a:spcBef>
              <a:spcAft>
                <a:spcPts val="0"/>
              </a:spcAft>
              <a:buClr>
                <a:srgbClr val="2B3541"/>
              </a:buClr>
              <a:buSzPts val="1850"/>
              <a:buFont typeface="Arial" panose="020B0604020202020204" pitchFamily="34" charset="0"/>
              <a:buChar char="•"/>
            </a:pPr>
            <a:r>
              <a:rPr lang="en-US" sz="1850" i="0" u="none" strike="noStrike" cap="none" dirty="0">
                <a:solidFill>
                  <a:srgbClr val="2B3541"/>
                </a:solidFill>
                <a:latin typeface="+mn-lt"/>
                <a:ea typeface="Times New Roman"/>
                <a:cs typeface="Times New Roman"/>
                <a:sym typeface="Times New Roman"/>
              </a:rPr>
              <a:t>Extend support to lifelong learning and professional certification programs.</a:t>
            </a:r>
            <a:endParaRPr lang="en-US" sz="1850" i="0" u="none" strike="noStrike" cap="none" dirty="0">
              <a:solidFill>
                <a:srgbClr val="000000"/>
              </a:solidFill>
              <a:latin typeface="+mn-lt"/>
              <a:ea typeface="Times New Roman"/>
              <a:cs typeface="Times New Roman"/>
              <a:sym typeface="Times New Roman"/>
            </a:endParaRPr>
          </a:p>
        </p:txBody>
      </p:sp>
      <p:sp>
        <p:nvSpPr>
          <p:cNvPr id="280" name="Google Shape;280;p18">
            <a:extLst>
              <a:ext uri="{FF2B5EF4-FFF2-40B4-BE49-F238E27FC236}">
                <a16:creationId xmlns:a16="http://schemas.microsoft.com/office/drawing/2014/main" xmlns=""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1216</TotalTime>
  <Words>840</Words>
  <Application>Microsoft Office PowerPoint</Application>
  <PresentationFormat>Custom</PresentationFormat>
  <Paragraphs>110</Paragraphs>
  <Slides>20</Slides>
  <Notes>19</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20</vt:i4>
      </vt:variant>
    </vt:vector>
  </HeadingPairs>
  <TitlesOfParts>
    <vt:vector size="22" baseType="lpstr">
      <vt:lpstr>Office Theme</vt:lpstr>
      <vt:lpstr>Adobe Acrobat Document</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Dell</cp:lastModifiedBy>
  <cp:revision>33</cp:revision>
  <dcterms:created xsi:type="dcterms:W3CDTF">2025-07-08T05:06:56Z</dcterms:created>
  <dcterms:modified xsi:type="dcterms:W3CDTF">2026-06-26T17:50:22Z</dcterms:modified>
</cp:coreProperties>
</file>